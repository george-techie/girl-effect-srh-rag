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5" r:id="rId2"/>
    <p:sldId id="256" r:id="rId3"/>
    <p:sldId id="257" r:id="rId4"/>
    <p:sldId id="258" r:id="rId5"/>
    <p:sldId id="259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706" autoAdjust="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1006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3B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56616"/>
            <a:ext cx="37490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87A7B"/>
                </a:solidFill>
                <a:latin typeface="Aptos"/>
              </a:rPr>
              <a:t>FINAL INTERVIEW · REFINED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30936"/>
            <a:ext cx="10972800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B1F46"/>
                </a:solidFill>
                <a:latin typeface="Aptos Display"/>
              </a:rPr>
              <a:t>Trusted Aunti, refined around the outcome that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11C1E"/>
                </a:solidFill>
                <a:latin typeface="Aptos"/>
              </a:rPr>
              <a:t>From a technically broad prototype to a simpler product focused on safe, grounded service access.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6556248"/>
            <a:ext cx="6949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8C84"/>
                </a:solidFill>
                <a:latin typeface="Aptos"/>
              </a:rPr>
              <a:t>Trusted Aunti · Girl Effect Data Scientist Practical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31168" y="6556248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8C84"/>
                </a:solidFill>
                <a:latin typeface="Aptos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27632"/>
            <a:ext cx="5760720" cy="18288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8C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184708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B1F46"/>
                </a:solidFill>
                <a:latin typeface="Aptos"/>
              </a:rPr>
              <a:t>THE PRODUCT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194560"/>
            <a:ext cx="52578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 dirty="0">
                <a:solidFill>
                  <a:srgbClr val="211C1E"/>
                </a:solidFill>
                <a:latin typeface="Aptos Display"/>
              </a:rPr>
              <a:t>Can a trusted conversation help a girl move from uncertainty to a safe next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3090672"/>
            <a:ext cx="1234440" cy="310896"/>
          </a:xfrm>
          <a:prstGeom prst="roundRect">
            <a:avLst/>
          </a:prstGeom>
          <a:solidFill>
            <a:srgbClr val="E5F5F3"/>
          </a:solidFill>
          <a:ln w="12700">
            <a:solidFill>
              <a:srgbClr val="087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3150108"/>
            <a:ext cx="10881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87A7B"/>
                </a:solidFill>
                <a:latin typeface="Aptos"/>
              </a:rPr>
              <a:t>Grounded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21408" y="3090672"/>
            <a:ext cx="1234440" cy="310896"/>
          </a:xfrm>
          <a:prstGeom prst="roundRect">
            <a:avLst/>
          </a:prstGeom>
          <a:solidFill>
            <a:srgbClr val="F4E9F0"/>
          </a:solidFill>
          <a:ln w="12700">
            <a:solidFill>
              <a:srgbClr val="5B1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94560" y="3150108"/>
            <a:ext cx="10881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1F46"/>
                </a:solidFill>
                <a:latin typeface="Aptos"/>
              </a:rPr>
              <a:t>Private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3090672"/>
            <a:ext cx="1371600" cy="310896"/>
          </a:xfrm>
          <a:prstGeom prst="roundRect">
            <a:avLst/>
          </a:prstGeom>
          <a:solidFill>
            <a:srgbClr val="FFE8E4"/>
          </a:solidFill>
          <a:ln w="12700">
            <a:solidFill>
              <a:srgbClr val="F16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47872" y="3150108"/>
            <a:ext cx="12252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16E5D"/>
                </a:solidFill>
                <a:latin typeface="Aptos"/>
              </a:rPr>
              <a:t>Safeguarded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65192" y="3090672"/>
            <a:ext cx="1042415" cy="310896"/>
          </a:xfrm>
          <a:prstGeom prst="roundRect">
            <a:avLst/>
          </a:prstGeom>
          <a:solidFill>
            <a:srgbClr val="FFF4D9"/>
          </a:solidFill>
          <a:ln w="12700">
            <a:solidFill>
              <a:srgbClr val="F3B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38344" y="3150108"/>
            <a:ext cx="89611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11C1E"/>
                </a:solidFill>
                <a:latin typeface="Aptos"/>
              </a:rPr>
              <a:t>Useful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56832" y="1609344"/>
            <a:ext cx="49834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alex_fulcher_portr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52" y="1874519"/>
            <a:ext cx="1874519" cy="19202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070848" y="1856231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5B1F46"/>
                </a:solidFill>
                <a:latin typeface="Aptos Display"/>
              </a:rPr>
              <a:t>Alex Fulcher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0848" y="2212848"/>
            <a:ext cx="22402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11C1E"/>
                </a:solidFill>
                <a:latin typeface="Aptos"/>
              </a:rPr>
              <a:t>Senior Director,
Tech &amp; Product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0848" y="2816352"/>
            <a:ext cx="2057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87A7B"/>
                </a:solidFill>
                <a:latin typeface="Aptos"/>
              </a:rPr>
              <a:t>Girl Effect</a:t>
            </a:r>
            <a:endParaRPr sz="1400" b="1" i="0" dirty="0">
              <a:solidFill>
                <a:srgbClr val="087A7B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931152" y="4005072"/>
            <a:ext cx="4434840" cy="1719072"/>
          </a:xfrm>
          <a:prstGeom prst="roundRect">
            <a:avLst/>
          </a:prstGeom>
          <a:solidFill>
            <a:srgbClr val="F4E9F0"/>
          </a:solidFill>
          <a:ln w="11430">
            <a:solidFill>
              <a:srgbClr val="D9B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87184" y="4233672"/>
            <a:ext cx="3950208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 dirty="0">
                <a:solidFill>
                  <a:srgbClr val="5B1F46"/>
                </a:solidFill>
                <a:latin typeface="Aptos Display"/>
              </a:rPr>
              <a:t>“</a:t>
            </a:r>
            <a:r>
              <a:rPr lang="en-US" sz="1300" i="1" dirty="0">
                <a:solidFill>
                  <a:srgbClr val="5B1F46"/>
                </a:solidFill>
                <a:latin typeface="Aptos Display"/>
              </a:rPr>
              <a:t>The </a:t>
            </a:r>
            <a:r>
              <a:rPr sz="1300" b="0" i="1" dirty="0">
                <a:solidFill>
                  <a:srgbClr val="5B1F46"/>
                </a:solidFill>
                <a:latin typeface="Aptos Display"/>
              </a:rPr>
              <a:t>biggest impact </a:t>
            </a:r>
            <a:r>
              <a:rPr lang="en-US" sz="1300" i="1" dirty="0">
                <a:solidFill>
                  <a:srgbClr val="5B1F46"/>
                </a:solidFill>
                <a:latin typeface="Aptos Display"/>
              </a:rPr>
              <a:t>for</a:t>
            </a:r>
            <a:r>
              <a:rPr lang="en-US" sz="1300" b="0" i="1" dirty="0">
                <a:solidFill>
                  <a:srgbClr val="5B1F46"/>
                </a:solidFill>
                <a:latin typeface="Aptos Display"/>
              </a:rPr>
              <a:t> me</a:t>
            </a:r>
            <a:r>
              <a:rPr sz="1300" b="0" i="1" dirty="0">
                <a:solidFill>
                  <a:srgbClr val="5B1F46"/>
                </a:solidFill>
                <a:latin typeface="Aptos Display"/>
              </a:rPr>
              <a:t> </a:t>
            </a:r>
            <a:r>
              <a:rPr lang="en-US" sz="1300" b="0" i="1" dirty="0">
                <a:solidFill>
                  <a:srgbClr val="5B1F46"/>
                </a:solidFill>
                <a:latin typeface="Aptos Display"/>
              </a:rPr>
              <a:t>is </a:t>
            </a:r>
            <a:r>
              <a:rPr sz="1300" b="0" i="1" dirty="0">
                <a:solidFill>
                  <a:srgbClr val="5B1F46"/>
                </a:solidFill>
                <a:latin typeface="Aptos Display"/>
              </a:rPr>
              <a:t>seeing a solution increase girls’ access to contraception</a:t>
            </a:r>
            <a:r>
              <a:rPr lang="en-US" sz="1300" b="0" i="1" dirty="0">
                <a:solidFill>
                  <a:srgbClr val="5B1F46"/>
                </a:solidFill>
                <a:latin typeface="Aptos Display"/>
              </a:rPr>
              <a:t> in </a:t>
            </a:r>
            <a:r>
              <a:rPr lang="en-US" sz="1300" b="0" i="1" dirty="0" err="1">
                <a:solidFill>
                  <a:srgbClr val="5B1F46"/>
                </a:solidFill>
                <a:latin typeface="Aptos Display"/>
              </a:rPr>
              <a:t>Ethopia</a:t>
            </a:r>
            <a:r>
              <a:rPr lang="en-US" sz="1300" b="0" i="1" dirty="0">
                <a:solidFill>
                  <a:srgbClr val="5B1F46"/>
                </a:solidFill>
                <a:latin typeface="Aptos Display"/>
              </a:rPr>
              <a:t>,</a:t>
            </a:r>
            <a:r>
              <a:rPr sz="1300" b="0" i="1" dirty="0">
                <a:solidFill>
                  <a:srgbClr val="5B1F46"/>
                </a:solidFill>
                <a:latin typeface="Aptos Display"/>
              </a:rPr>
              <a:t> helping them stay in education and have more control over their future.”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87184" y="546811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1">
                <a:solidFill>
                  <a:srgbClr val="8F8278"/>
                </a:solidFill>
                <a:latin typeface="Aptos"/>
              </a:rPr>
              <a:t>Paraphrased from our first interview conversation.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300216"/>
            <a:ext cx="10972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8F8278"/>
                </a:solidFill>
                <a:latin typeface="Aptos"/>
              </a:rPr>
              <a:t>Framing: interview feedback + refined project scope. The downstream impact is the goal, not a claim established by this PoC.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3B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56616"/>
            <a:ext cx="37490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87A7B"/>
                </a:solidFill>
                <a:latin typeface="Aptos"/>
              </a:rPr>
              <a:t>WHAT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30936"/>
            <a:ext cx="10972800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B1F46"/>
                </a:solidFill>
                <a:latin typeface="Aptos Display"/>
              </a:rPr>
              <a:t>I treated the feedback as a product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11C1E"/>
                </a:solidFill>
                <a:latin typeface="Aptos"/>
              </a:rPr>
              <a:t>The question was not “how do I make it smaller?” but “which parts actually earn their place?”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6556248"/>
            <a:ext cx="6949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8C84"/>
                </a:solidFill>
                <a:latin typeface="Aptos"/>
              </a:rPr>
              <a:t>Trusted Aunti · Girl Effect Data Scientist Practical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31168" y="6556248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8C84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36192"/>
            <a:ext cx="11018520" cy="786384"/>
          </a:xfrm>
          <a:prstGeom prst="roundRect">
            <a:avLst/>
          </a:prstGeom>
          <a:solidFill>
            <a:srgbClr val="F4E9F0"/>
          </a:solidFill>
          <a:ln w="12700">
            <a:solidFill>
              <a:srgbClr val="D9B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728216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 i="1">
                <a:solidFill>
                  <a:srgbClr val="5B1F46"/>
                </a:solidFill>
                <a:latin typeface="Aptos Display"/>
              </a:rPr>
              <a:t>“The solution was overengineered in places. Show us a more refined version focused on delivery of the use case.”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2532888"/>
            <a:ext cx="5257800" cy="3044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74320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16E5D"/>
                </a:solidFill>
                <a:latin typeface="Aptos"/>
              </a:rPr>
              <a:t>PREVIOUS SHIPPED SYSTEM 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5B1F46"/>
                </a:solidFill>
                <a:latin typeface="Aptos Display"/>
              </a:rPr>
              <a:t>Broad, multi-model control 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584448"/>
            <a:ext cx="11430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1" i="0">
                <a:solidFill>
                  <a:srgbClr val="F16E5D"/>
                </a:solidFill>
                <a:latin typeface="Aptos Display"/>
              </a:rPr>
              <a:t>5 model roles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593591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11C1E"/>
                </a:solidFill>
                <a:latin typeface="Aptos"/>
              </a:rPr>
              <a:t>classification, evidence, generation, judging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023360"/>
            <a:ext cx="11430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1" i="0">
                <a:solidFill>
                  <a:srgbClr val="F16E5D"/>
                </a:solidFill>
                <a:latin typeface="Aptos Display"/>
              </a:rPr>
              <a:t>2 LLM judges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4032504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11C1E"/>
                </a:solidFill>
                <a:latin typeface="Aptos"/>
              </a:rPr>
              <a:t>evidence +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462272"/>
            <a:ext cx="11430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1" i="0">
                <a:solidFill>
                  <a:srgbClr val="F16E5D"/>
                </a:solidFill>
                <a:latin typeface="Aptos Display"/>
              </a:rPr>
              <a:t>4 content tracks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4471416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11C1E"/>
                </a:solidFill>
                <a:latin typeface="Aptos"/>
              </a:rPr>
              <a:t>broader health/life-skills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901184"/>
            <a:ext cx="11430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1" i="0">
                <a:solidFill>
                  <a:srgbClr val="F16E5D"/>
                </a:solidFill>
                <a:latin typeface="Aptos Display"/>
              </a:rPr>
              <a:t>12 / 51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910328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11C1E"/>
                </a:solidFill>
                <a:latin typeface="Aptos"/>
              </a:rPr>
              <a:t>unhelpful actions in the old benchmark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2532888"/>
            <a:ext cx="5458968" cy="3044952"/>
          </a:xfrm>
          <a:prstGeom prst="roundRect">
            <a:avLst/>
          </a:prstGeom>
          <a:solidFill>
            <a:srgbClr val="E5F5F3"/>
          </a:solidFill>
          <a:ln w="15240">
            <a:solidFill>
              <a:srgbClr val="087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2512" y="274320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87A7B"/>
                </a:solidFill>
                <a:latin typeface="Aptos"/>
              </a:rPr>
              <a:t>REFINED 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3108960"/>
            <a:ext cx="4526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5B1F46"/>
                </a:solidFill>
                <a:latin typeface="Aptos Display"/>
              </a:rPr>
              <a:t>Minimum justified complexity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3584448"/>
            <a:ext cx="126187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1" i="0">
                <a:solidFill>
                  <a:srgbClr val="087A7B"/>
                </a:solidFill>
                <a:latin typeface="Aptos Display"/>
              </a:rPr>
              <a:t>1 hosted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3593591"/>
            <a:ext cx="34472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11C1E"/>
                </a:solidFill>
                <a:latin typeface="Aptos"/>
              </a:rPr>
              <a:t>generation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4023360"/>
            <a:ext cx="126187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1" i="0">
                <a:solidFill>
                  <a:srgbClr val="087A7B"/>
                </a:solidFill>
                <a:latin typeface="Aptos Display"/>
              </a:rPr>
              <a:t>Rules first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9248" y="4032504"/>
            <a:ext cx="34472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11C1E"/>
                </a:solidFill>
                <a:latin typeface="Aptos"/>
              </a:rPr>
              <a:t>routing, safeguarding,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4462272"/>
            <a:ext cx="126187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1" i="0">
                <a:solidFill>
                  <a:srgbClr val="087A7B"/>
                </a:solidFill>
                <a:latin typeface="Aptos Display"/>
              </a:rPr>
              <a:t>8 governed docs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8" y="4471416"/>
            <a:ext cx="34472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11C1E"/>
                </a:solidFill>
                <a:latin typeface="Aptos"/>
              </a:rPr>
              <a:t>contraception + sexual health + service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7376" y="4901184"/>
            <a:ext cx="126187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1" i="0">
                <a:solidFill>
                  <a:srgbClr val="087A7B"/>
                </a:solidFill>
                <a:latin typeface="Aptos Display"/>
              </a:rPr>
              <a:t>3 / 52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9248" y="4910328"/>
            <a:ext cx="34472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11C1E"/>
                </a:solidFill>
                <a:latin typeface="Aptos"/>
              </a:rPr>
              <a:t>deterministic unusable outcomes in the current run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" y="5742432"/>
            <a:ext cx="10588752" cy="384048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C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9264" y="5833872"/>
            <a:ext cx="10241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5B1F46"/>
                </a:solidFill>
                <a:latin typeface="Aptos"/>
              </a:rPr>
              <a:t>What did not change: a universal safety floor · grounded factual answers · verified services · youth-facing conversation.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300216"/>
            <a:ext cx="10972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8F8278"/>
                </a:solidFill>
                <a:latin typeface="Aptos"/>
              </a:rPr>
              <a:t>Note: the old and refined “unhelpful/unusable” instruments differ; the comparison is directional, not a precise percentage reduction.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3B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56616"/>
            <a:ext cx="37490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87A7B"/>
                </a:solidFill>
                <a:latin typeface="Aptos"/>
              </a:rPr>
              <a:t>THEORY OF CHANGE IN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30936"/>
            <a:ext cx="10972800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B1F46"/>
                </a:solidFill>
                <a:latin typeface="Aptos Display"/>
              </a:rPr>
              <a:t>A girl worried after unprotected sex, reaching HIV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11C1E"/>
                </a:solidFill>
                <a:latin typeface="Aptos"/>
              </a:rPr>
              <a:t>Girl Effect’s behavioural journey translated into one conversation — from trusted discussion to a stated next 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6556248"/>
            <a:ext cx="6949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8C84"/>
                </a:solidFill>
                <a:latin typeface="Aptos"/>
              </a:rPr>
              <a:t>Trusted Aunti · Girl Effect Data Scientist Practical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31168" y="6556248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8C84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627632"/>
            <a:ext cx="1773936" cy="3520440"/>
          </a:xfrm>
          <a:prstGeom prst="roundRect">
            <a:avLst/>
          </a:prstGeom>
          <a:solidFill>
            <a:srgbClr val="F4E9F0"/>
          </a:solidFill>
          <a:ln w="13970">
            <a:solidFill>
              <a:srgbClr val="5B1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7784" y="1764792"/>
            <a:ext cx="15361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B1F46"/>
                </a:solidFill>
                <a:latin typeface="Aptos"/>
              </a:rPr>
              <a:t>RAPPORT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2176272"/>
            <a:ext cx="153619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1">
                <a:solidFill>
                  <a:srgbClr val="211C1E"/>
                </a:solidFill>
                <a:latin typeface="Aptos"/>
              </a:rPr>
              <a:t>“niaje aunti”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" y="3502152"/>
            <a:ext cx="1536192" cy="13716"/>
          </a:xfrm>
          <a:prstGeom prst="rect">
            <a:avLst/>
          </a:prstGeom>
          <a:solidFill>
            <a:srgbClr val="D9C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" y="3621024"/>
            <a:ext cx="1536192" cy="101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1" i="0" dirty="0">
                <a:solidFill>
                  <a:schemeClr val="accent1"/>
                </a:solidFill>
                <a:latin typeface="Aptos"/>
              </a:rPr>
              <a:t>WHAT TRUSTED AUNTI DOES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3895344"/>
            <a:ext cx="1536192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11C1E"/>
                </a:solidFill>
                <a:latin typeface="Aptos"/>
              </a:rPr>
              <a:t>Create a private, non-judgmental space where she is willing to keep talking.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17420" y="3191256"/>
            <a:ext cx="1005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8F8278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22576" y="1627632"/>
            <a:ext cx="1773936" cy="3520440"/>
          </a:xfrm>
          <a:prstGeom prst="roundRect">
            <a:avLst/>
          </a:prstGeom>
          <a:solidFill>
            <a:srgbClr val="E5F5F3"/>
          </a:solidFill>
          <a:ln w="13970">
            <a:solidFill>
              <a:srgbClr val="087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41448" y="1764792"/>
            <a:ext cx="15361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87A7B"/>
                </a:solidFill>
                <a:latin typeface="Aptos"/>
              </a:rPr>
              <a:t>KNOWLEDGE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1448" y="2176272"/>
            <a:ext cx="153619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1">
                <a:solidFill>
                  <a:srgbClr val="211C1E"/>
                </a:solidFill>
                <a:latin typeface="Aptos"/>
              </a:rPr>
              <a:t>“Can you tell if someone has HIV just by looking at them?”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41448" y="3502152"/>
            <a:ext cx="1536192" cy="13716"/>
          </a:xfrm>
          <a:prstGeom prst="rect">
            <a:avLst/>
          </a:prstGeom>
          <a:solidFill>
            <a:srgbClr val="D9C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41448" y="3621024"/>
            <a:ext cx="1536192" cy="101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1" i="0" dirty="0">
                <a:solidFill>
                  <a:srgbClr val="7030A0"/>
                </a:solidFill>
                <a:latin typeface="Aptos"/>
              </a:rPr>
              <a:t>WHAT TRUSTED AUNTI DOES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41448" y="3895344"/>
            <a:ext cx="1536192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11C1E"/>
                </a:solidFill>
                <a:latin typeface="Aptos"/>
              </a:rPr>
              <a:t>Correct the myth with grounded evidence and explain that testing is the only way to know.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01084" y="3191256"/>
            <a:ext cx="1005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8F8278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1627632"/>
            <a:ext cx="1773936" cy="3520440"/>
          </a:xfrm>
          <a:prstGeom prst="roundRect">
            <a:avLst/>
          </a:prstGeom>
          <a:solidFill>
            <a:srgbClr val="FFF4D9"/>
          </a:solidFill>
          <a:ln w="13970">
            <a:solidFill>
              <a:srgbClr val="F3B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25112" y="1764792"/>
            <a:ext cx="15361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3B23B"/>
                </a:solidFill>
                <a:latin typeface="Aptos"/>
              </a:rPr>
              <a:t>SELF-EFFICACY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5112" y="2176272"/>
            <a:ext cx="153619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1">
                <a:solidFill>
                  <a:srgbClr val="211C1E"/>
                </a:solidFill>
                <a:latin typeface="Aptos"/>
              </a:rPr>
              <a:t>“I think I should get tested, but I am scared of what they will say about me.”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5112" y="3502152"/>
            <a:ext cx="1536192" cy="13716"/>
          </a:xfrm>
          <a:prstGeom prst="rect">
            <a:avLst/>
          </a:prstGeom>
          <a:solidFill>
            <a:srgbClr val="D9C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25112" y="3621024"/>
            <a:ext cx="1536192" cy="101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1" i="0" dirty="0">
                <a:solidFill>
                  <a:srgbClr val="7030A0"/>
                </a:solidFill>
                <a:latin typeface="Aptos"/>
              </a:rPr>
              <a:t>WHAT TRUSTED AUNTI DOES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5112" y="3895344"/>
            <a:ext cx="1536192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11C1E"/>
                </a:solidFill>
                <a:latin typeface="Aptos"/>
              </a:rPr>
              <a:t>Acknowledge the fear of judgement and help her name the barrier without pushing her.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4747" y="3191256"/>
            <a:ext cx="1005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8F8278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9904" y="1627632"/>
            <a:ext cx="1773936" cy="3520440"/>
          </a:xfrm>
          <a:prstGeom prst="roundRect">
            <a:avLst/>
          </a:prstGeom>
          <a:solidFill>
            <a:srgbClr val="FFE8E4"/>
          </a:solidFill>
          <a:ln w="25400">
            <a:solidFill>
              <a:srgbClr val="F16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08776" y="1764792"/>
            <a:ext cx="15361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16E5D"/>
                </a:solidFill>
                <a:latin typeface="Aptos"/>
              </a:rPr>
              <a:t>INTENT · CONVERSION 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8776" y="2176272"/>
            <a:ext cx="153619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1">
                <a:solidFill>
                  <a:srgbClr val="211C1E"/>
                </a:solidFill>
                <a:latin typeface="Aptos"/>
              </a:rPr>
              <a:t>“Okay, tell me what actually happens when you go for an HIV test.”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08776" y="3502152"/>
            <a:ext cx="1536192" cy="13716"/>
          </a:xfrm>
          <a:prstGeom prst="rect">
            <a:avLst/>
          </a:prstGeom>
          <a:solidFill>
            <a:srgbClr val="D9C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08776" y="3621024"/>
            <a:ext cx="1536192" cy="101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1" i="0" dirty="0">
                <a:solidFill>
                  <a:srgbClr val="002060"/>
                </a:solidFill>
                <a:latin typeface="Aptos"/>
              </a:rPr>
              <a:t>WHAT TRUSTED AUNTI DOES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8776" y="3895344"/>
            <a:ext cx="1536192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 i="0" dirty="0">
                <a:solidFill>
                  <a:srgbClr val="211C1E"/>
                </a:solidFill>
                <a:latin typeface="Aptos"/>
              </a:rPr>
              <a:t>Explain the testing process clearly and surface verified contacts while she is weighing up going.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690872"/>
            <a:ext cx="151790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6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91072" y="4750308"/>
            <a:ext cx="1371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dirty="0">
                <a:latin typeface="Aptos"/>
              </a:rPr>
              <a:t>Marie Stopes · One2One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8412" y="3191256"/>
            <a:ext cx="1005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8F8278"/>
                </a:solidFill>
                <a:latin typeface="Aptos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73568" y="1627632"/>
            <a:ext cx="1773936" cy="3520440"/>
          </a:xfrm>
          <a:prstGeom prst="roundRect">
            <a:avLst/>
          </a:prstGeom>
          <a:solidFill>
            <a:srgbClr val="E5F5F3"/>
          </a:solidFill>
          <a:ln w="13970">
            <a:solidFill>
              <a:srgbClr val="087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92440" y="1764792"/>
            <a:ext cx="15361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87A7B"/>
                </a:solidFill>
                <a:latin typeface="Aptos"/>
              </a:rPr>
              <a:t>SERVICE ACCESS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2176272"/>
            <a:ext cx="153619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1">
                <a:solidFill>
                  <a:srgbClr val="211C1E"/>
                </a:solidFill>
                <a:latin typeface="Aptos"/>
              </a:rPr>
              <a:t>“Where can I actually go for one?”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92440" y="3502152"/>
            <a:ext cx="1536192" cy="13716"/>
          </a:xfrm>
          <a:prstGeom prst="rect">
            <a:avLst/>
          </a:prstGeom>
          <a:solidFill>
            <a:srgbClr val="D9C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92440" y="3621024"/>
            <a:ext cx="1536192" cy="101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1" i="0" dirty="0">
                <a:solidFill>
                  <a:schemeClr val="accent1"/>
                </a:solidFill>
                <a:latin typeface="Aptos"/>
              </a:rPr>
              <a:t>WHAT TRUSTED AUNTI DOES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40" y="3895344"/>
            <a:ext cx="1536192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 i="0" dirty="0">
                <a:solidFill>
                  <a:srgbClr val="211C1E"/>
                </a:solidFill>
                <a:latin typeface="Aptos"/>
              </a:rPr>
              <a:t>Move from information to practical access: where to go, what options exist, and how to reach help.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52076" y="3191256"/>
            <a:ext cx="1005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8F8278"/>
                </a:solidFill>
                <a:latin typeface="Aptos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57232" y="1627632"/>
            <a:ext cx="1773936" cy="3520440"/>
          </a:xfrm>
          <a:prstGeom prst="roundRect">
            <a:avLst/>
          </a:prstGeom>
          <a:solidFill>
            <a:srgbClr val="F4E9F0"/>
          </a:solidFill>
          <a:ln w="13970">
            <a:solidFill>
              <a:srgbClr val="5B1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976104" y="1764792"/>
            <a:ext cx="15361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B1F46"/>
                </a:solidFill>
                <a:latin typeface="Aptos"/>
              </a:rPr>
              <a:t>BEHAVIOUR CHANGE SIGNAL*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76104" y="2176272"/>
            <a:ext cx="153619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1">
                <a:solidFill>
                  <a:srgbClr val="211C1E"/>
                </a:solidFill>
                <a:latin typeface="Aptos"/>
              </a:rPr>
              <a:t>“Asante sana aunti, I will text them tomorrow.”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976104" y="3502152"/>
            <a:ext cx="1536192" cy="13716"/>
          </a:xfrm>
          <a:prstGeom prst="rect">
            <a:avLst/>
          </a:prstGeom>
          <a:solidFill>
            <a:srgbClr val="D9C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976104" y="3621024"/>
            <a:ext cx="1536192" cy="101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1" i="0" dirty="0">
                <a:solidFill>
                  <a:schemeClr val="accent1"/>
                </a:solidFill>
                <a:latin typeface="Aptos"/>
              </a:rPr>
              <a:t>WHAT TRUSTED AUNTI DOES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76104" y="3895344"/>
            <a:ext cx="1536192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11C1E"/>
                </a:solidFill>
                <a:latin typeface="Aptos"/>
              </a:rPr>
              <a:t>End with agency: the next step is hers, and the system does not pressure or overclaim the outcome.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30352" y="5340096"/>
            <a:ext cx="11137392" cy="6400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8C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13232" y="5468112"/>
            <a:ext cx="10771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5B1F46"/>
                </a:solidFill>
                <a:latin typeface="Aptos"/>
              </a:rPr>
              <a:t>The product does not push her through stages. It removes the barrier in front of her and makes the next safe action easier.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099048"/>
            <a:ext cx="10607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8F8278"/>
                </a:solidFill>
                <a:latin typeface="Aptos"/>
              </a:rPr>
              <a:t>* Self-reported next action, not verified HIV-test uptake. The PoC measures the conversation and service-access pathway, not downstream behaviour.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300216"/>
            <a:ext cx="10972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8F8278"/>
                </a:solidFill>
                <a:latin typeface="Aptos"/>
              </a:rPr>
              <a:t>Journey: refined project README · Theory of Change framing: Girl Effect AI/ML whitepaper.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CA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E80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50" b="1">
                <a:solidFill>
                  <a:srgbClr val="5B204F"/>
                </a:solidFill>
                <a:latin typeface="Aptos Display"/>
              </a:rPr>
              <a:t>Refined architecture: complexity only where it earns its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22F31"/>
                </a:solidFill>
                <a:latin typeface="Aptos"/>
              </a:rPr>
              <a:t>Safeguarding is a gate, not a route. Only generation uses a hosted LLM.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783080"/>
            <a:ext cx="2450592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2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892808"/>
            <a:ext cx="420624" cy="384048"/>
          </a:xfrm>
          <a:prstGeom prst="roundRect">
            <a:avLst/>
          </a:prstGeom>
          <a:solidFill>
            <a:srgbClr val="5B2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1892808"/>
            <a:ext cx="17007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5B204F"/>
                </a:solidFill>
                <a:latin typeface="Aptos"/>
              </a:rPr>
              <a:t>VALIDATE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59152"/>
            <a:ext cx="21214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736C6C"/>
                </a:solidFill>
                <a:latin typeface="Aptos"/>
              </a:rPr>
              <a:t>input + scope checks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783080"/>
            <a:ext cx="2450592" cy="1188720"/>
          </a:xfrm>
          <a:prstGeom prst="roundRect">
            <a:avLst/>
          </a:prstGeom>
          <a:solidFill>
            <a:srgbClr val="FAF2DB"/>
          </a:solidFill>
          <a:ln w="20320">
            <a:solidFill>
              <a:srgbClr val="ECA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11296" y="1892808"/>
            <a:ext cx="420624" cy="384048"/>
          </a:xfrm>
          <a:prstGeom prst="roundRect">
            <a:avLst/>
          </a:prstGeom>
          <a:solidFill>
            <a:srgbClr val="ECA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95928" y="1892808"/>
            <a:ext cx="17007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ECAA34"/>
                </a:solidFill>
                <a:latin typeface="Aptos"/>
              </a:rPr>
              <a:t>SAFEGUARD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359152"/>
            <a:ext cx="21214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736C6C"/>
                </a:solidFill>
                <a:latin typeface="Aptos"/>
              </a:rPr>
              <a:t>screen for harm, coercion or urgent risk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783080"/>
            <a:ext cx="2450592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F06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91072" y="1892808"/>
            <a:ext cx="420624" cy="384048"/>
          </a:xfrm>
          <a:prstGeom prst="roundRect">
            <a:avLst/>
          </a:prstGeom>
          <a:solidFill>
            <a:srgbClr val="F06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5704" y="1892808"/>
            <a:ext cx="17007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F06855"/>
                </a:solidFill>
                <a:latin typeface="Aptos"/>
              </a:rPr>
              <a:t>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359152"/>
            <a:ext cx="21214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736C6C"/>
                </a:solidFill>
                <a:latin typeface="Aptos"/>
              </a:rPr>
              <a:t>choose action: factual · access · support · chat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2832" y="1783080"/>
            <a:ext cx="2450592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2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070848" y="1892808"/>
            <a:ext cx="420624" cy="384048"/>
          </a:xfrm>
          <a:prstGeom prst="roundRect">
            <a:avLst/>
          </a:prstGeom>
          <a:solidFill>
            <a:srgbClr val="5B2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1892808"/>
            <a:ext cx="17007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5B204F"/>
                </a:solidFill>
                <a:latin typeface="Aptos"/>
              </a:rPr>
              <a:t>RESOLVE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359152"/>
            <a:ext cx="21214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736C6C"/>
                </a:solidFill>
                <a:latin typeface="Aptos"/>
              </a:rPr>
              <a:t>link a short follow-up to recent context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42832" y="3364992"/>
            <a:ext cx="2450592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2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070848" y="3474720"/>
            <a:ext cx="420624" cy="384048"/>
          </a:xfrm>
          <a:prstGeom prst="roundRect">
            <a:avLst/>
          </a:prstGeom>
          <a:solidFill>
            <a:srgbClr val="5B2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474720"/>
            <a:ext cx="17007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5B204F"/>
                </a:solidFill>
                <a:latin typeface="Aptos"/>
              </a:rPr>
              <a:t>PREPARE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7424" y="3941064"/>
            <a:ext cx="21214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736C6C"/>
                </a:solidFill>
                <a:latin typeface="Aptos"/>
              </a:rPr>
              <a:t>focus what retrieval should search for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63056" y="3364992"/>
            <a:ext cx="2450592" cy="1188720"/>
          </a:xfrm>
          <a:prstGeom prst="roundRect">
            <a:avLst/>
          </a:prstGeom>
          <a:solidFill>
            <a:srgbClr val="E2F1F0"/>
          </a:solidFill>
          <a:ln w="20320">
            <a:solidFill>
              <a:srgbClr val="00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291072" y="3474720"/>
            <a:ext cx="420624" cy="384048"/>
          </a:xfrm>
          <a:prstGeom prst="roundRect">
            <a:avLst/>
          </a:prstGeom>
          <a:solidFill>
            <a:srgbClr val="00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75704" y="3474720"/>
            <a:ext cx="17007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007E80"/>
                </a:solidFill>
                <a:latin typeface="Aptos"/>
              </a:rPr>
              <a:t>RETRIEVE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3941064"/>
            <a:ext cx="21214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007E80"/>
                </a:solidFill>
                <a:latin typeface="Aptos"/>
              </a:rPr>
              <a:t>local BGE-M3 finds governed 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3364992"/>
            <a:ext cx="2450592" cy="1188720"/>
          </a:xfrm>
          <a:prstGeom prst="roundRect">
            <a:avLst/>
          </a:prstGeom>
          <a:solidFill>
            <a:srgbClr val="5B204F"/>
          </a:solidFill>
          <a:ln w="20320">
            <a:solidFill>
              <a:srgbClr val="5B2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511296" y="3474720"/>
            <a:ext cx="420624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5B204F"/>
                </a:solidFill>
                <a:latin typeface="Aptos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95928" y="3474720"/>
            <a:ext cx="17007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Aptos"/>
              </a:rPr>
              <a:t>GENERATE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47872" y="3941064"/>
            <a:ext cx="21214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ptos"/>
              </a:rPr>
              <a:t>one hosted LLM writes the response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" y="3364992"/>
            <a:ext cx="2450592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D6C9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31520" y="3474720"/>
            <a:ext cx="420624" cy="384048"/>
          </a:xfrm>
          <a:prstGeom prst="roundRect">
            <a:avLst/>
          </a:prstGeom>
          <a:solidFill>
            <a:srgbClr val="D6C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3474720"/>
            <a:ext cx="17007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5B204F"/>
                </a:solidFill>
                <a:latin typeface="Aptos"/>
              </a:rPr>
              <a:t>CHECK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" y="3941064"/>
            <a:ext cx="21214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736C6C"/>
                </a:solidFill>
                <a:latin typeface="Aptos"/>
              </a:rPr>
              <a:t>enforce citations + safety rules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63240" y="2231136"/>
            <a:ext cx="310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736C6C"/>
                </a:solidFill>
                <a:latin typeface="Aptos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3016" y="2231136"/>
            <a:ext cx="310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736C6C"/>
                </a:solidFill>
                <a:latin typeface="Aptos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22792" y="2231136"/>
            <a:ext cx="310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736C6C"/>
                </a:solidFill>
                <a:latin typeface="Aptos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03536" y="3017520"/>
            <a:ext cx="32918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736C6C"/>
                </a:solidFill>
                <a:latin typeface="Aptos"/>
              </a:rPr>
              <a:t>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63240" y="3813048"/>
            <a:ext cx="310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736C6C"/>
                </a:solidFill>
                <a:latin typeface="Aptos"/>
              </a:rPr>
              <a:t>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3016" y="3813048"/>
            <a:ext cx="310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736C6C"/>
                </a:solidFill>
                <a:latin typeface="Aptos"/>
              </a:rPr>
              <a:t>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22792" y="3813048"/>
            <a:ext cx="310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736C6C"/>
                </a:solidFill>
                <a:latin typeface="Aptos"/>
              </a:rPr>
              <a:t>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" y="4864608"/>
            <a:ext cx="5138928" cy="841248"/>
          </a:xfrm>
          <a:prstGeom prst="roundRect">
            <a:avLst/>
          </a:prstGeom>
          <a:solidFill>
            <a:srgbClr val="FAF2DB"/>
          </a:solidFill>
          <a:ln w="15240">
            <a:solidFill>
              <a:srgbClr val="ECA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87552" y="4974336"/>
            <a:ext cx="4809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ECAA34"/>
                </a:solidFill>
                <a:latin typeface="Aptos"/>
              </a:rPr>
              <a:t>If safeguarding fires, the pipeline stops.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" y="5266944"/>
            <a:ext cx="480974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60" b="0">
                <a:solidFill>
                  <a:srgbClr val="322F31"/>
                </a:solidFill>
                <a:latin typeface="Aptos"/>
              </a:rPr>
              <a:t>Approved safety response + verified contacts · no retrieval · no hosted LLM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99632" y="4864608"/>
            <a:ext cx="5138928" cy="841248"/>
          </a:xfrm>
          <a:prstGeom prst="roundRect">
            <a:avLst/>
          </a:prstGeom>
          <a:solidFill>
            <a:srgbClr val="F4EBF2"/>
          </a:solidFill>
          <a:ln w="15240">
            <a:solidFill>
              <a:srgbClr val="D0B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64224" y="4974336"/>
            <a:ext cx="4809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5B204F"/>
                </a:solidFill>
                <a:latin typeface="Aptos"/>
              </a:rPr>
              <a:t>Only Generate calls the hosted model.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64224" y="5266944"/>
            <a:ext cx="480974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60" b="0">
                <a:solidFill>
                  <a:srgbClr val="322F31"/>
                </a:solidFill>
                <a:latin typeface="Aptos"/>
              </a:rPr>
              <a:t>Everything else is deterministic or local · BGE-M3 encodes locally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5852160"/>
            <a:ext cx="9875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736C6C"/>
                </a:solidFill>
                <a:latin typeface="Aptos"/>
              </a:rPr>
              <a:t>Resolve = understand the follow-up · Prepare = focus retrieval. Both are conditional.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" y="654710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36C6C"/>
                </a:solidFill>
                <a:latin typeface="Aptos"/>
              </a:rPr>
              <a:t>Trusted Aunti · Girl Effect Data Scientist Practical Assignment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65860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36C6C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3B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38328"/>
            <a:ext cx="37490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87A7B"/>
                </a:solidFill>
                <a:latin typeface="Aptos"/>
              </a:rPr>
              <a:t>EVALUATION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5B1F46"/>
                </a:solidFill>
                <a:latin typeface="Aptos Display"/>
              </a:rPr>
              <a:t>Five tests, one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60704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211C1E"/>
                </a:solidFill>
                <a:latin typeface="Aptos"/>
              </a:rPr>
              <a:t>Different failure modes need different tests — not one flattering chatbot score.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27632"/>
            <a:ext cx="2148840" cy="3355848"/>
          </a:xfrm>
          <a:prstGeom prst="roundRect">
            <a:avLst/>
          </a:prstGeom>
          <a:solidFill>
            <a:srgbClr val="FFE8E4"/>
          </a:solidFill>
          <a:ln w="10160">
            <a:solidFill>
              <a:srgbClr val="F16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67512" y="1792224"/>
            <a:ext cx="420624" cy="420624"/>
          </a:xfrm>
          <a:prstGeom prst="roundRect">
            <a:avLst/>
          </a:prstGeom>
          <a:solidFill>
            <a:srgbClr val="F1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7922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9576" y="1792224"/>
            <a:ext cx="128930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F16E5D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717774"/>
            <a:ext cx="1819656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dirty="0">
                <a:solidFill>
                  <a:srgbClr val="211C1E"/>
                </a:solidFill>
                <a:latin typeface="Aptos Display"/>
              </a:rPr>
              <a:t>Right </a:t>
            </a:r>
            <a:r>
              <a:rPr sz="1400" b="1" i="0" dirty="0" err="1">
                <a:solidFill>
                  <a:srgbClr val="211C1E"/>
                </a:solidFill>
                <a:latin typeface="Aptos Display"/>
              </a:rPr>
              <a:t>actio</a:t>
            </a:r>
            <a:r>
              <a:rPr lang="en-GB" sz="1400" b="1" i="0" dirty="0">
                <a:solidFill>
                  <a:srgbClr val="211C1E"/>
                </a:solidFill>
                <a:latin typeface="Aptos Display"/>
              </a:rPr>
              <a:t>n (52)</a:t>
            </a:r>
            <a:r>
              <a:rPr sz="1400" b="1" i="0" dirty="0">
                <a:solidFill>
                  <a:srgbClr val="211C1E"/>
                </a:solidFill>
                <a:latin typeface="Aptos Display"/>
              </a:rPr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4133088"/>
            <a:ext cx="1819656" cy="9144"/>
          </a:xfrm>
          <a:prstGeom prst="rect">
            <a:avLst/>
          </a:prstGeom>
          <a:solidFill>
            <a:srgbClr val="F1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4315968"/>
            <a:ext cx="181965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10" b="0" i="0">
                <a:solidFill>
                  <a:srgbClr val="211C1E"/>
                </a:solidFill>
                <a:latin typeface="Aptos"/>
              </a:rPr>
              <a:t>route · safeguarding · contrast pairs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0632" y="1627632"/>
            <a:ext cx="2148840" cy="3355848"/>
          </a:xfrm>
          <a:prstGeom prst="roundRect">
            <a:avLst/>
          </a:prstGeom>
          <a:solidFill>
            <a:srgbClr val="E5F5F3"/>
          </a:solidFill>
          <a:ln w="10160">
            <a:solidFill>
              <a:srgbClr val="087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935224" y="1792224"/>
            <a:ext cx="420624" cy="420624"/>
          </a:xfrm>
          <a:prstGeom prst="roundRect">
            <a:avLst/>
          </a:prstGeom>
          <a:solidFill>
            <a:srgbClr val="087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35224" y="17922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1792224"/>
            <a:ext cx="128930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087A7B"/>
                </a:solidFill>
                <a:latin typeface="Aptos"/>
              </a:rPr>
              <a:t>RETRIEVAL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5224" y="2610053"/>
            <a:ext cx="1819656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 dirty="0">
                <a:solidFill>
                  <a:srgbClr val="211C1E"/>
                </a:solidFill>
                <a:latin typeface="Aptos Display"/>
              </a:rPr>
              <a:t>Answerable evidence</a:t>
            </a:r>
            <a:r>
              <a:rPr lang="en-US" sz="1400" b="1" i="0" dirty="0">
                <a:solidFill>
                  <a:srgbClr val="211C1E"/>
                </a:solidFill>
                <a:latin typeface="Aptos Display"/>
              </a:rPr>
              <a:t> (</a:t>
            </a:r>
            <a:r>
              <a:rPr lang="en-GB" sz="1400" b="1" i="0" dirty="0">
                <a:solidFill>
                  <a:srgbClr val="211C1E"/>
                </a:solidFill>
                <a:latin typeface="Aptos Display"/>
              </a:rPr>
              <a:t>31</a:t>
            </a:r>
            <a:r>
              <a:rPr lang="en-GB" sz="1400" b="1" dirty="0">
                <a:solidFill>
                  <a:srgbClr val="211C1E"/>
                </a:solidFill>
                <a:latin typeface="Aptos Display"/>
              </a:rPr>
              <a:t> )</a:t>
            </a:r>
            <a:r>
              <a:rPr sz="1400" b="1" i="0" dirty="0">
                <a:solidFill>
                  <a:srgbClr val="211C1E"/>
                </a:solidFill>
                <a:latin typeface="Aptos Display"/>
              </a:rPr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35224" y="4133088"/>
            <a:ext cx="1819656" cy="9144"/>
          </a:xfrm>
          <a:prstGeom prst="rect">
            <a:avLst/>
          </a:prstGeom>
          <a:solidFill>
            <a:srgbClr val="087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35224" y="4315968"/>
            <a:ext cx="181965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10" b="0" i="0">
                <a:solidFill>
                  <a:srgbClr val="211C1E"/>
                </a:solidFill>
                <a:latin typeface="Aptos"/>
              </a:rPr>
              <a:t>Adequate@5 · MRR · ToC drivers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38344" y="1627632"/>
            <a:ext cx="2148840" cy="3355848"/>
          </a:xfrm>
          <a:prstGeom prst="roundRect">
            <a:avLst/>
          </a:prstGeom>
          <a:solidFill>
            <a:srgbClr val="FFF4D9"/>
          </a:solidFill>
          <a:ln w="10160">
            <a:solidFill>
              <a:srgbClr val="F3B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202936" y="1792224"/>
            <a:ext cx="420624" cy="420624"/>
          </a:xfrm>
          <a:prstGeom prst="roundRect">
            <a:avLst/>
          </a:prstGeom>
          <a:solidFill>
            <a:srgbClr val="F3B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02936" y="17922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1792224"/>
            <a:ext cx="128930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F3B23B"/>
                </a:solidFill>
                <a:latin typeface="Aptos"/>
              </a:rPr>
              <a:t>MULTI-TURN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02936" y="2610053"/>
            <a:ext cx="1819656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 dirty="0">
                <a:solidFill>
                  <a:srgbClr val="211C1E"/>
                </a:solidFill>
                <a:latin typeface="Aptos Display"/>
              </a:rPr>
              <a:t>Follow-ups stay safe</a:t>
            </a:r>
            <a:r>
              <a:rPr lang="en-US" sz="1400" b="1" i="0" dirty="0">
                <a:solidFill>
                  <a:srgbClr val="211C1E"/>
                </a:solidFill>
                <a:latin typeface="Aptos Display"/>
              </a:rPr>
              <a:t> (</a:t>
            </a:r>
            <a:r>
              <a:rPr lang="en-GB" sz="1400" b="1" i="0" dirty="0">
                <a:solidFill>
                  <a:srgbClr val="211C1E"/>
                </a:solidFill>
                <a:latin typeface="Aptos Display"/>
              </a:rPr>
              <a:t>23</a:t>
            </a:r>
            <a:r>
              <a:rPr lang="en-GB" sz="1400" b="1" dirty="0">
                <a:solidFill>
                  <a:srgbClr val="211C1E"/>
                </a:solidFill>
                <a:latin typeface="Aptos Display"/>
              </a:rPr>
              <a:t>)</a:t>
            </a:r>
            <a:r>
              <a:rPr sz="1400" b="1" i="0" dirty="0">
                <a:solidFill>
                  <a:srgbClr val="211C1E"/>
                </a:solidFill>
                <a:latin typeface="Aptos Display"/>
              </a:rPr>
              <a:t>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02936" y="4133088"/>
            <a:ext cx="1819656" cy="9144"/>
          </a:xfrm>
          <a:prstGeom prst="rect">
            <a:avLst/>
          </a:prstGeom>
          <a:solidFill>
            <a:srgbClr val="F3B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02936" y="4315968"/>
            <a:ext cx="181965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10" b="0" i="0">
                <a:solidFill>
                  <a:srgbClr val="211C1E"/>
                </a:solidFill>
                <a:latin typeface="Aptos"/>
              </a:rPr>
              <a:t>path accuracy · forbidden passages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06055" y="1627632"/>
            <a:ext cx="2148840" cy="3355848"/>
          </a:xfrm>
          <a:prstGeom prst="roundRect">
            <a:avLst/>
          </a:prstGeom>
          <a:solidFill>
            <a:srgbClr val="F4E9F0"/>
          </a:solidFill>
          <a:ln w="10160">
            <a:solidFill>
              <a:srgbClr val="5B1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470648" y="1792224"/>
            <a:ext cx="420624" cy="420624"/>
          </a:xfrm>
          <a:prstGeom prst="roundRect">
            <a:avLst/>
          </a:prstGeom>
          <a:solidFill>
            <a:srgbClr val="5B1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70648" y="17922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82711" y="1792224"/>
            <a:ext cx="128930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5B1F46"/>
                </a:solidFill>
                <a:latin typeface="Aptos"/>
              </a:rPr>
              <a:t>MIXED INTENT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0648" y="2610052"/>
            <a:ext cx="1819656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 dirty="0">
                <a:solidFill>
                  <a:srgbClr val="211C1E"/>
                </a:solidFill>
                <a:latin typeface="Aptos Display"/>
              </a:rPr>
              <a:t>Feelings + facts separated</a:t>
            </a:r>
            <a:r>
              <a:rPr lang="en-GB" sz="1400" b="1" dirty="0">
                <a:solidFill>
                  <a:srgbClr val="211C1E"/>
                </a:solidFill>
                <a:latin typeface="Aptos Display"/>
              </a:rPr>
              <a:t> (15)</a:t>
            </a:r>
            <a:r>
              <a:rPr sz="1400" b="1" i="0" dirty="0">
                <a:solidFill>
                  <a:srgbClr val="211C1E"/>
                </a:solidFill>
                <a:latin typeface="Aptos Display"/>
              </a:rPr>
              <a:t>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70648" y="4133088"/>
            <a:ext cx="1819656" cy="9144"/>
          </a:xfrm>
          <a:prstGeom prst="rect">
            <a:avLst/>
          </a:prstGeom>
          <a:solidFill>
            <a:srgbClr val="5B1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70648" y="4315968"/>
            <a:ext cx="181965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10" b="0" i="0">
                <a:solidFill>
                  <a:srgbClr val="211C1E"/>
                </a:solidFill>
                <a:latin typeface="Aptos"/>
              </a:rPr>
              <a:t>wanted vs unwanted evidence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73768" y="1627632"/>
            <a:ext cx="2148840" cy="3355848"/>
          </a:xfrm>
          <a:prstGeom prst="roundRect">
            <a:avLst/>
          </a:prstGeom>
          <a:solidFill>
            <a:srgbClr val="E5F5F3"/>
          </a:solidFill>
          <a:ln w="10160">
            <a:solidFill>
              <a:srgbClr val="087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738360" y="1792224"/>
            <a:ext cx="420624" cy="420624"/>
          </a:xfrm>
          <a:prstGeom prst="roundRect">
            <a:avLst/>
          </a:prstGeom>
          <a:solidFill>
            <a:srgbClr val="087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38360" y="17922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50424" y="1792224"/>
            <a:ext cx="128930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087A7B"/>
                </a:solidFill>
                <a:latin typeface="Aptos"/>
              </a:rPr>
              <a:t>CONVERSATION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8360" y="2717773"/>
            <a:ext cx="1819656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 dirty="0">
                <a:solidFill>
                  <a:srgbClr val="211C1E"/>
                </a:solidFill>
                <a:latin typeface="Aptos Display"/>
              </a:rPr>
              <a:t>Usable final reply</a:t>
            </a:r>
            <a:r>
              <a:rPr lang="en-GB" sz="1400" b="1" dirty="0">
                <a:solidFill>
                  <a:srgbClr val="211C1E"/>
                </a:solidFill>
                <a:latin typeface="Aptos Display"/>
              </a:rPr>
              <a:t> (38)</a:t>
            </a:r>
            <a:r>
              <a:rPr sz="1400" b="1" i="0" dirty="0">
                <a:solidFill>
                  <a:srgbClr val="211C1E"/>
                </a:solidFill>
                <a:latin typeface="Aptos Display"/>
              </a:rPr>
              <a:t>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38360" y="4133088"/>
            <a:ext cx="1819656" cy="9144"/>
          </a:xfrm>
          <a:prstGeom prst="rect">
            <a:avLst/>
          </a:prstGeom>
          <a:solidFill>
            <a:srgbClr val="087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738360" y="4315968"/>
            <a:ext cx="181965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10" b="0" i="0">
                <a:solidFill>
                  <a:srgbClr val="211C1E"/>
                </a:solidFill>
                <a:latin typeface="Aptos"/>
              </a:rPr>
              <a:t>grounding · continuation · calls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193792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0" b="1" i="0">
                <a:solidFill>
                  <a:srgbClr val="211C1E"/>
                </a:solidFill>
                <a:latin typeface="Aptos"/>
              </a:rPr>
              <a:t>Together, the five tests cover: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487168" y="5102352"/>
            <a:ext cx="1444752" cy="411480"/>
          </a:xfrm>
          <a:prstGeom prst="roundRect">
            <a:avLst/>
          </a:prstGeom>
          <a:solidFill>
            <a:srgbClr val="FFE8E4"/>
          </a:solidFill>
          <a:ln w="11430">
            <a:solidFill>
              <a:srgbClr val="F16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487168" y="5102352"/>
            <a:ext cx="144475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60" b="1" i="0">
                <a:solidFill>
                  <a:srgbClr val="F16E5D"/>
                </a:solidFill>
                <a:latin typeface="Aptos"/>
              </a:rPr>
              <a:t>Safeguarded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078224" y="5102352"/>
            <a:ext cx="1444752" cy="411480"/>
          </a:xfrm>
          <a:prstGeom prst="roundRect">
            <a:avLst/>
          </a:prstGeom>
          <a:solidFill>
            <a:srgbClr val="E5F5F3"/>
          </a:solidFill>
          <a:ln w="11430">
            <a:solidFill>
              <a:srgbClr val="087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078224" y="5102352"/>
            <a:ext cx="144475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60" b="1" i="0">
                <a:solidFill>
                  <a:srgbClr val="087A7B"/>
                </a:solidFill>
                <a:latin typeface="Aptos"/>
              </a:rPr>
              <a:t>Accurate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0" y="5102352"/>
            <a:ext cx="1444752" cy="411480"/>
          </a:xfrm>
          <a:prstGeom prst="roundRect">
            <a:avLst/>
          </a:prstGeom>
          <a:solidFill>
            <a:srgbClr val="FFF4D9"/>
          </a:solidFill>
          <a:ln w="11430">
            <a:solidFill>
              <a:srgbClr val="F3B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669280" y="5102352"/>
            <a:ext cx="144475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60" b="1" i="0">
                <a:solidFill>
                  <a:srgbClr val="F3B23B"/>
                </a:solidFill>
                <a:latin typeface="Aptos"/>
              </a:rPr>
              <a:t>Reliable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60336" y="5102352"/>
            <a:ext cx="1444752" cy="411480"/>
          </a:xfrm>
          <a:prstGeom prst="roundRect">
            <a:avLst/>
          </a:prstGeom>
          <a:solidFill>
            <a:srgbClr val="F4E9F0"/>
          </a:solidFill>
          <a:ln w="11430">
            <a:solidFill>
              <a:srgbClr val="5B1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260336" y="5102352"/>
            <a:ext cx="144475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60" b="1" i="0">
                <a:solidFill>
                  <a:srgbClr val="5B1F46"/>
                </a:solidFill>
                <a:latin typeface="Aptos"/>
              </a:rPr>
              <a:t>Resonant*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559612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9A8C84"/>
                </a:solidFill>
                <a:latin typeface="Aptos"/>
              </a:rPr>
              <a:t>* Resonance here uses deterministic proxies. Warmth, trust and cultural authenticity still need human / youth review.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" y="6355080"/>
            <a:ext cx="5760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9A8C84"/>
                </a:solidFill>
                <a:latin typeface="Aptos"/>
              </a:rPr>
              <a:t>Trusted Aunti · Girl Effect Data Scientist Practical Assignment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594592" y="6355080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9A8C84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 i="0">
                <a:solidFill>
                  <a:srgbClr val="008085"/>
                </a:solidFill>
                <a:latin typeface="Aptos"/>
              </a:rPr>
              <a:t>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85216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i="0">
                <a:solidFill>
                  <a:srgbClr val="5E224A"/>
                </a:solidFill>
                <a:latin typeface="Aptos Display"/>
              </a:rPr>
              <a:t>Previous System C vs refined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60704"/>
            <a:ext cx="10698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41F1D"/>
                </a:solidFill>
                <a:latin typeface="Aptos"/>
              </a:rPr>
              <a:t>A directional comparison of safety, usefulness, decision quality and model dependence.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572768"/>
            <a:ext cx="11137392" cy="502920"/>
          </a:xfrm>
          <a:prstGeom prst="roundRect">
            <a:avLst>
              <a:gd name="adj" fmla="val 8000"/>
            </a:avLst>
          </a:prstGeom>
          <a:solidFill>
            <a:srgbClr val="5E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" y="1600200"/>
            <a:ext cx="219456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WHAT WE 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45536" y="1600200"/>
            <a:ext cx="246888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PREVIOUS SYSTEM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88736" y="1600200"/>
            <a:ext cx="246888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REFINED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1936" y="1600200"/>
            <a:ext cx="2907792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WHAT CHANGED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167128"/>
            <a:ext cx="11137392" cy="749808"/>
          </a:xfrm>
          <a:prstGeom prst="roundRect">
            <a:avLst>
              <a:gd name="adj" fmla="val 5000"/>
            </a:avLst>
          </a:prstGeom>
          <a:solidFill>
            <a:srgbClr val="FCECE8"/>
          </a:solidFill>
          <a:ln w="10160">
            <a:solidFill>
              <a:srgbClr val="DE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0352" y="2167128"/>
            <a:ext cx="54864" cy="749808"/>
          </a:xfrm>
          <a:prstGeom prst="rect">
            <a:avLst/>
          </a:prstGeom>
          <a:solidFill>
            <a:srgbClr val="F4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2203704"/>
            <a:ext cx="2157984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4685B"/>
                </a:solidFill>
                <a:latin typeface="Aptos"/>
              </a:rPr>
              <a:t>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5536" y="2231136"/>
            <a:ext cx="2468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5E224A"/>
                </a:solidFill>
                <a:latin typeface="Aptos Display"/>
              </a:rPr>
              <a:t>0 unsafe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5536" y="2523744"/>
            <a:ext cx="2468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 i="0">
                <a:solidFill>
                  <a:srgbClr val="241F1D"/>
                </a:solidFill>
                <a:latin typeface="Aptos"/>
              </a:rPr>
              <a:t>51-case benchmark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88736" y="2231136"/>
            <a:ext cx="2468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F4685B"/>
                </a:solidFill>
                <a:latin typeface="Aptos Display"/>
              </a:rPr>
              <a:t>12/12 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2523744"/>
            <a:ext cx="2468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 i="0">
                <a:solidFill>
                  <a:srgbClr val="241F1D"/>
                </a:solidFill>
                <a:latin typeface="Aptos"/>
              </a:rPr>
              <a:t>12/12 precision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2240280"/>
            <a:ext cx="2907792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241F1D"/>
                </a:solidFill>
                <a:latin typeface="Aptos"/>
              </a:rPr>
              <a:t>Safety retained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2980944"/>
            <a:ext cx="11137392" cy="749808"/>
          </a:xfrm>
          <a:prstGeom prst="roundRect">
            <a:avLst>
              <a:gd name="adj" fmla="val 5000"/>
            </a:avLst>
          </a:prstGeom>
          <a:solidFill>
            <a:srgbClr val="E8F5F4"/>
          </a:solidFill>
          <a:ln w="10160">
            <a:solidFill>
              <a:srgbClr val="DE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0352" y="2980944"/>
            <a:ext cx="54864" cy="749808"/>
          </a:xfrm>
          <a:prstGeom prst="rect">
            <a:avLst/>
          </a:prstGeom>
          <a:solidFill>
            <a:srgbClr val="008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3017520"/>
            <a:ext cx="2157984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008085"/>
                </a:solidFill>
                <a:latin typeface="Aptos"/>
              </a:rPr>
              <a:t>Usefulness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45536" y="3044951"/>
            <a:ext cx="2468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5E224A"/>
                </a:solidFill>
                <a:latin typeface="Aptos Display"/>
              </a:rPr>
              <a:t>12 / 51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45536" y="3337560"/>
            <a:ext cx="2468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 i="0">
                <a:solidFill>
                  <a:srgbClr val="241F1D"/>
                </a:solidFill>
                <a:latin typeface="Aptos"/>
              </a:rPr>
              <a:t>unhelpful 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8736" y="3044951"/>
            <a:ext cx="2468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008085"/>
                </a:solidFill>
                <a:latin typeface="Aptos Display"/>
              </a:rPr>
              <a:t>3 / 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88736" y="3337560"/>
            <a:ext cx="2468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 i="0">
                <a:solidFill>
                  <a:srgbClr val="241F1D"/>
                </a:solidFill>
                <a:latin typeface="Aptos"/>
              </a:rPr>
              <a:t>unusable outcomes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31936" y="3054096"/>
            <a:ext cx="2907792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241F1D"/>
                </a:solidFill>
                <a:latin typeface="Aptos"/>
              </a:rPr>
              <a:t>Fewer dead ends*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" y="3794760"/>
            <a:ext cx="11137392" cy="749808"/>
          </a:xfrm>
          <a:prstGeom prst="roundRect">
            <a:avLst>
              <a:gd name="adj" fmla="val 5000"/>
            </a:avLst>
          </a:prstGeom>
          <a:solidFill>
            <a:srgbClr val="FFF7E0"/>
          </a:solidFill>
          <a:ln w="10160">
            <a:solidFill>
              <a:srgbClr val="DE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30352" y="3794760"/>
            <a:ext cx="54864" cy="749808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" y="3831336"/>
            <a:ext cx="2157984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5AA2D"/>
                </a:solidFill>
                <a:latin typeface="Aptos"/>
              </a:rPr>
              <a:t>Decision quality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45536" y="3858768"/>
            <a:ext cx="2468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5E224A"/>
                </a:solidFill>
                <a:latin typeface="Aptos Display"/>
              </a:rPr>
              <a:t>0.745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45536" y="4151376"/>
            <a:ext cx="2468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 i="0">
                <a:solidFill>
                  <a:srgbClr val="241F1D"/>
                </a:solidFill>
                <a:latin typeface="Aptos"/>
              </a:rPr>
              <a:t>action accuracy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88736" y="3858768"/>
            <a:ext cx="2468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F5AA2D"/>
                </a:solidFill>
                <a:latin typeface="Aptos Display"/>
              </a:rPr>
              <a:t>52 / 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88736" y="4151376"/>
            <a:ext cx="2468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 i="0">
                <a:solidFill>
                  <a:srgbClr val="241F1D"/>
                </a:solidFill>
                <a:latin typeface="Aptos"/>
              </a:rPr>
              <a:t>route accuracy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31936" y="3867912"/>
            <a:ext cx="2907792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241F1D"/>
                </a:solidFill>
                <a:latin typeface="Aptos"/>
              </a:rPr>
              <a:t>Rules replaced planner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0352" y="4608576"/>
            <a:ext cx="11137392" cy="749808"/>
          </a:xfrm>
          <a:prstGeom prst="roundRect">
            <a:avLst>
              <a:gd name="adj" fmla="val 5000"/>
            </a:avLst>
          </a:prstGeom>
          <a:solidFill>
            <a:srgbClr val="F5EBF1"/>
          </a:solidFill>
          <a:ln w="10160">
            <a:solidFill>
              <a:srgbClr val="DE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30352" y="4608576"/>
            <a:ext cx="54864" cy="749808"/>
          </a:xfrm>
          <a:prstGeom prst="rect">
            <a:avLst/>
          </a:prstGeom>
          <a:solidFill>
            <a:srgbClr val="5E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" y="4645152"/>
            <a:ext cx="2157984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5E224A"/>
                </a:solidFill>
                <a:latin typeface="Aptos"/>
              </a:rPr>
              <a:t>Model dependence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45536" y="4672584"/>
            <a:ext cx="2468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5E224A"/>
                </a:solidFill>
                <a:latin typeface="Aptos Display"/>
              </a:rPr>
              <a:t>3.53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45536" y="4965192"/>
            <a:ext cx="2468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 i="0">
                <a:solidFill>
                  <a:srgbClr val="241F1D"/>
                </a:solidFill>
                <a:latin typeface="Aptos"/>
              </a:rPr>
              <a:t>LLM calls / turn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88736" y="4672584"/>
            <a:ext cx="2468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5E224A"/>
                </a:solidFill>
                <a:latin typeface="Aptos Display"/>
              </a:rPr>
              <a:t>0.69–1.03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88736" y="4965192"/>
            <a:ext cx="2468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 i="0">
                <a:solidFill>
                  <a:srgbClr val="241F1D"/>
                </a:solidFill>
                <a:latin typeface="Aptos"/>
              </a:rPr>
              <a:t>LLM calls / turn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31936" y="4681728"/>
            <a:ext cx="2907792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241F1D"/>
                </a:solidFill>
                <a:latin typeface="Aptos"/>
              </a:rPr>
              <a:t>≈3.4–5.1× fewer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0352" y="5413248"/>
            <a:ext cx="11137392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E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8368" y="5440680"/>
            <a:ext cx="4114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0" b="1" i="0">
                <a:solidFill>
                  <a:srgbClr val="008085"/>
                </a:solidFill>
                <a:latin typeface="Aptos"/>
              </a:rPr>
              <a:t>REFINED BUILD — ADDITIONAL QUALITY CHECKS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" y="5650992"/>
            <a:ext cx="263347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1" i="0">
                <a:solidFill>
                  <a:srgbClr val="91857B"/>
                </a:solidFill>
                <a:latin typeface="Aptos"/>
              </a:rPr>
              <a:t>RETRIEVAL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" y="5861304"/>
            <a:ext cx="2633472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008085"/>
                </a:solidFill>
                <a:latin typeface="Aptos Display"/>
              </a:rPr>
              <a:t>Adequate@5  .960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9544" y="5632704"/>
            <a:ext cx="10972" cy="475488"/>
          </a:xfrm>
          <a:prstGeom prst="rect">
            <a:avLst/>
          </a:prstGeom>
          <a:solidFill>
            <a:srgbClr val="DE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456432" y="5650992"/>
            <a:ext cx="263347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1" i="0">
                <a:solidFill>
                  <a:srgbClr val="91857B"/>
                </a:solidFill>
                <a:latin typeface="Aptos"/>
              </a:rPr>
              <a:t>GROUNDING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56432" y="5861304"/>
            <a:ext cx="2633472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4685B"/>
                </a:solidFill>
                <a:latin typeface="Aptos Display"/>
              </a:rPr>
              <a:t>24 / 24 cited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52744" y="5632704"/>
            <a:ext cx="10972" cy="475488"/>
          </a:xfrm>
          <a:prstGeom prst="rect">
            <a:avLst/>
          </a:prstGeom>
          <a:solidFill>
            <a:srgbClr val="DE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199632" y="5650992"/>
            <a:ext cx="263347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1" i="0">
                <a:solidFill>
                  <a:srgbClr val="91857B"/>
                </a:solidFill>
                <a:latin typeface="Aptos"/>
              </a:rPr>
              <a:t>MULTI-TURN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99632" y="5861304"/>
            <a:ext cx="2633472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5AA2D"/>
                </a:solidFill>
                <a:latin typeface="Aptos Display"/>
              </a:rPr>
              <a:t>forbidden  1 → 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95944" y="5632704"/>
            <a:ext cx="10972" cy="475488"/>
          </a:xfrm>
          <a:prstGeom prst="rect">
            <a:avLst/>
          </a:prstGeom>
          <a:solidFill>
            <a:srgbClr val="DE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942832" y="5650992"/>
            <a:ext cx="263347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1" i="0">
                <a:solidFill>
                  <a:srgbClr val="91857B"/>
                </a:solidFill>
                <a:latin typeface="Aptos"/>
              </a:rPr>
              <a:t>CONVERSATION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42832" y="5861304"/>
            <a:ext cx="2633472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5E224A"/>
                </a:solidFill>
                <a:latin typeface="Aptos Display"/>
              </a:rPr>
              <a:t>38 / 38 usable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291072"/>
            <a:ext cx="102412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40" b="0" i="1">
                <a:solidFill>
                  <a:srgbClr val="91857B"/>
                </a:solidFill>
                <a:latin typeface="Aptos"/>
              </a:rPr>
              <a:t>* Old = LLM-judged “unhelpful actions”; refined = deterministic blocked / no-evidence / provider-error outcomes. Instruments and datasets differ, so read this directionally.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6483096"/>
            <a:ext cx="1024128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10" b="0" i="0">
                <a:solidFill>
                  <a:srgbClr val="91857B"/>
                </a:solidFill>
                <a:latin typeface="Aptos"/>
              </a:rPr>
              <a:t>Refined 3/52 = 1 validator block + 2 no-evidence + 0 provider errors; 8 correct out-of-scope declines are excluded.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702552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70" b="0" i="0">
                <a:solidFill>
                  <a:srgbClr val="91857B"/>
                </a:solidFill>
                <a:latin typeface="Aptos"/>
              </a:rPr>
              <a:t>Trusted Aunti · Girl Effect Data Scientist Practical Assignment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612880" y="6702552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 i="0">
                <a:solidFill>
                  <a:srgbClr val="91857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CA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E80"/>
                </a:solidFill>
                <a:latin typeface="Aptos"/>
              </a:rPr>
              <a:t>WHAT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5B204F"/>
                </a:solidFill>
                <a:latin typeface="Aptos Display"/>
              </a:rPr>
              <a:t>The next proof comes from girls, clinicians and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61872"/>
            <a:ext cx="8961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22F31"/>
                </a:solidFill>
                <a:latin typeface="Aptos"/>
              </a:rPr>
              <a:t>The prototype is ready. The next step is to validate it with the people and institutions around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212080" cy="1170432"/>
          </a:xfrm>
          <a:prstGeom prst="roundRect">
            <a:avLst/>
          </a:prstGeom>
          <a:solidFill>
            <a:srgbClr val="DCEEED"/>
          </a:solidFill>
          <a:ln w="16510">
            <a:solidFill>
              <a:srgbClr val="00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4672" y="2084831"/>
            <a:ext cx="530352" cy="530352"/>
          </a:xfrm>
          <a:prstGeom prst="roundRect">
            <a:avLst/>
          </a:prstGeom>
          <a:solidFill>
            <a:srgbClr val="00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2039111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E80"/>
                </a:solidFill>
                <a:latin typeface="Aptos"/>
              </a:rPr>
              <a:t>Test with real girls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331719"/>
            <a:ext cx="41605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0">
                <a:solidFill>
                  <a:srgbClr val="322F31"/>
                </a:solidFill>
                <a:latin typeface="Aptos"/>
              </a:rPr>
              <a:t>Run youth testing in Kenya to check trust, clarity, warmth and whether the conversation feels natural and useful.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74135"/>
            <a:ext cx="5212080" cy="1170432"/>
          </a:xfrm>
          <a:prstGeom prst="roundRect">
            <a:avLst/>
          </a:prstGeom>
          <a:solidFill>
            <a:srgbClr val="FDECE8"/>
          </a:solidFill>
          <a:ln w="16510">
            <a:solidFill>
              <a:srgbClr val="F06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4672" y="3584447"/>
            <a:ext cx="530352" cy="530352"/>
          </a:xfrm>
          <a:prstGeom prst="roundRect">
            <a:avLst/>
          </a:prstGeom>
          <a:solidFill>
            <a:srgbClr val="F06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3538727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6855"/>
                </a:solidFill>
                <a:latin typeface="Aptos"/>
              </a:rPr>
              <a:t>Verify with health &amp; safeguarding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831335"/>
            <a:ext cx="41605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0">
                <a:solidFill>
                  <a:srgbClr val="322F31"/>
                </a:solidFill>
                <a:latin typeface="Aptos"/>
              </a:rPr>
              <a:t>SRH clinicians and safeguarding/policy reviewers validate HIV, contraception and referral content before wider use.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73751"/>
            <a:ext cx="5212080" cy="1170432"/>
          </a:xfrm>
          <a:prstGeom prst="roundRect">
            <a:avLst/>
          </a:prstGeom>
          <a:solidFill>
            <a:srgbClr val="F9F1D6"/>
          </a:solidFill>
          <a:ln w="16510">
            <a:solidFill>
              <a:srgbClr val="ECA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4672" y="5084063"/>
            <a:ext cx="530352" cy="530352"/>
          </a:xfrm>
          <a:prstGeom prst="roundRect">
            <a:avLst/>
          </a:prstGeom>
          <a:solidFill>
            <a:srgbClr val="ECA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5038343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CAA34"/>
                </a:solidFill>
                <a:latin typeface="Aptos"/>
              </a:rPr>
              <a:t>Measure real service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5330951"/>
            <a:ext cx="41605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0">
                <a:solidFill>
                  <a:srgbClr val="322F31"/>
                </a:solidFill>
                <a:latin typeface="Aptos"/>
              </a:rPr>
              <a:t>Work with service partners to confirm contacts and measure whether intent leads to safe HIV testing or other SRH service uptake.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1847088"/>
            <a:ext cx="50749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9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a_warm_clean_vector_illustration_style_scene_of_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84248"/>
            <a:ext cx="4800600" cy="38862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793992" y="5074920"/>
            <a:ext cx="4407408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60" b="1">
                <a:solidFill>
                  <a:srgbClr val="5B204F"/>
                </a:solidFill>
                <a:latin typeface="Aptos"/>
              </a:rPr>
              <a:t>The goal is not another model node —
it is safer conversations, stronger agency and real
access to care.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6172200"/>
            <a:ext cx="10607040" cy="384048"/>
          </a:xfrm>
          <a:prstGeom prst="roundRect">
            <a:avLst/>
          </a:prstGeom>
          <a:solidFill>
            <a:srgbClr val="F2E8F2"/>
          </a:solidFill>
          <a:ln w="10160">
            <a:solidFill>
              <a:srgbClr val="C9B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5B204F"/>
                </a:solidFill>
                <a:latin typeface="Aptos"/>
              </a:rPr>
              <a:t>Beyond the prototype: validate trust, validate content, validate that girls actually reach services.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654710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7574"/>
                </a:solidFill>
                <a:latin typeface="Aptos"/>
              </a:rPr>
              <a:t>Trusted Aunti · Girl Effect Data Scientist Practical Assignment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5860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A7574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2875</TotalTime>
  <Words>1290</Words>
  <Application>Microsoft Office PowerPoint</Application>
  <PresentationFormat>Widescreen</PresentationFormat>
  <Paragraphs>215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CMU-Africa / Girl Effect practical assignment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Trusted Aunti: Safety-aware conversational RAG for adolescent girls in Kenya</dc:title>
  <dc:subject>Girl Effect Data Scientist Practical Assignment</dc:subject>
  <dc:creator>George Nyatangi</dc:creator>
  <cp:lastModifiedBy>George Nyatangi</cp:lastModifiedBy>
  <cp:revision>16</cp:revision>
  <dcterms:created xsi:type="dcterms:W3CDTF">2026-08-11T06:31:48Z</dcterms:created>
  <dcterms:modified xsi:type="dcterms:W3CDTF">2026-09-01T09:29:15Z</dcterms:modified>
</cp:coreProperties>
</file>